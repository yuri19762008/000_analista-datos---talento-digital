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369296"/>
            <a:ext cx="8229600" cy="1312069"/>
          </a:xfrm>
          <a:prstGeom prst="roundRect">
            <a:avLst>
              <a:gd name="adj" fmla="val 153321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381000" dist="9525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74904" y="-537865"/>
            <a:ext cx="8394192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0"/>
              </a:lnSpc>
              <a:buNone/>
            </a:pPr>
            <a:r>
              <a:rPr lang="en-US" sz="90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🤖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457200" y="1329035"/>
            <a:ext cx="8229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0"/>
              </a:lnSpc>
              <a:buNone/>
            </a:pPr>
            <a:r>
              <a:rPr lang="en-US" sz="6000" b="1" dirty="0">
                <a:solidFill>
                  <a:srgbClr val="7C3AE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Herramientas de IA para la programación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374904" y="3767435"/>
            <a:ext cx="8394192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40"/>
              </a:lnSpc>
              <a:buNone/>
            </a:pPr>
            <a:r>
              <a:rPr lang="en-US" sz="156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Infografía de estudio para examen</a:t>
            </a:r>
            <a:endParaRPr lang="en-US" sz="1560" dirty="0"/>
          </a:p>
        </p:txBody>
      </p:sp>
      <p:sp>
        <p:nvSpPr>
          <p:cNvPr id="6" name="Text 4"/>
          <p:cNvSpPr/>
          <p:nvPr/>
        </p:nvSpPr>
        <p:spPr>
          <a:xfrm>
            <a:off x="695325" y="4607421"/>
            <a:ext cx="7753350" cy="8358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94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 central:</a:t>
            </a:r>
            <a:pPr algn="l" indent="0" marL="0">
              <a:lnSpc>
                <a:spcPts val="2194"/>
              </a:lnSpc>
              <a:buNone/>
            </a:pPr>
            <a:r>
              <a:rPr lang="en-US" sz="1350" dirty="0">
                <a:solidFill>
                  <a:srgbClr val="DBE4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la clase une dos mundos: primero enseña a pensar en términos algorítmicos y representar soluciones con pseudocódigo, PSeInt y diagramas; después muestra cómo usar IA y prompts para programar con más productividad, criterio y responsabilidad.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43608"/>
            <a:ext cx="685800" cy="38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510308"/>
            <a:ext cx="4000500" cy="3509963"/>
          </a:xfrm>
          <a:prstGeom prst="roundRect">
            <a:avLst>
              <a:gd name="adj" fmla="val 57313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381000" dist="9525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686300" y="1510308"/>
            <a:ext cx="4000500" cy="3509963"/>
          </a:xfrm>
          <a:prstGeom prst="roundRect">
            <a:avLst>
              <a:gd name="adj" fmla="val 57313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381000" dist="9525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4924425" y="3772495"/>
            <a:ext cx="3524250" cy="1009650"/>
          </a:xfrm>
          <a:prstGeom prst="roundRect">
            <a:avLst>
              <a:gd name="adj" fmla="val 163019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57200" y="170855"/>
            <a:ext cx="723957" cy="173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68"/>
              </a:lnSpc>
              <a:buNone/>
            </a:pPr>
            <a:r>
              <a:rPr lang="en-US" sz="912" dirty="0">
                <a:solidFill>
                  <a:srgbClr val="C4B5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Bloque 1</a:t>
            </a:r>
            <a:endParaRPr lang="en-US" sz="912" dirty="0"/>
          </a:p>
        </p:txBody>
      </p:sp>
      <p:sp>
        <p:nvSpPr>
          <p:cNvPr id="7" name="Text 4"/>
          <p:cNvSpPr/>
          <p:nvPr/>
        </p:nvSpPr>
        <p:spPr>
          <a:xfrm>
            <a:off x="457200" y="443508"/>
            <a:ext cx="8394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3600" dirty="0">
                <a:solidFill>
                  <a:srgbClr val="F8FAF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Qué es un algoritmo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695325" y="1748433"/>
            <a:ext cx="35947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Definición lógica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95325" y="2167533"/>
            <a:ext cx="3524250" cy="1490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89"/>
              </a:lnSpc>
              <a:buSzPct val="100000"/>
              <a:buChar char="•"/>
            </a:pPr>
            <a:r>
              <a:rPr lang="en-US" sz="1224" dirty="0">
                <a:solidFill>
                  <a:srgbClr val="DBE4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 un conjunto </a:t>
            </a:r>
            <a:pPr indent="0" marL="0">
              <a:lnSpc>
                <a:spcPts val="1989"/>
              </a:lnSpc>
              <a:buNone/>
            </a:pPr>
            <a:r>
              <a:rPr lang="en-US" sz="122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finito</a:t>
            </a:r>
            <a:pPr indent="0" marL="0">
              <a:lnSpc>
                <a:spcPts val="1989"/>
              </a:lnSpc>
              <a:buNone/>
            </a:pPr>
            <a:r>
              <a:rPr lang="en-US" sz="1224" dirty="0">
                <a:solidFill>
                  <a:srgbClr val="DBE4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pasos.</a:t>
            </a:r>
            <a:endParaRPr lang="en-US" sz="1224" dirty="0"/>
          </a:p>
          <a:p>
            <a:pPr marL="342900" indent="-342900">
              <a:lnSpc>
                <a:spcPts val="1989"/>
              </a:lnSpc>
              <a:buSzPct val="100000"/>
              <a:buChar char="•"/>
            </a:pPr>
            <a:r>
              <a:rPr lang="en-US" sz="1224" dirty="0">
                <a:solidFill>
                  <a:srgbClr val="DBE4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pasos están </a:t>
            </a:r>
            <a:pPr indent="0" marL="0">
              <a:lnSpc>
                <a:spcPts val="1989"/>
              </a:lnSpc>
              <a:buNone/>
            </a:pPr>
            <a:r>
              <a:rPr lang="en-US" sz="122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ordenados</a:t>
            </a:r>
            <a:pPr indent="0" marL="0">
              <a:lnSpc>
                <a:spcPts val="1989"/>
              </a:lnSpc>
              <a:buNone/>
            </a:pPr>
            <a:r>
              <a:rPr lang="en-US" sz="1224" dirty="0">
                <a:solidFill>
                  <a:srgbClr val="DBE4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 bien definidos.</a:t>
            </a:r>
            <a:endParaRPr lang="en-US" sz="1224" dirty="0"/>
          </a:p>
          <a:p>
            <a:pPr marL="342900" indent="-342900">
              <a:lnSpc>
                <a:spcPts val="1989"/>
              </a:lnSpc>
              <a:buSzPct val="100000"/>
              <a:buChar char="•"/>
            </a:pPr>
            <a:r>
              <a:rPr lang="en-US" sz="1224" dirty="0">
                <a:solidFill>
                  <a:srgbClr val="DBE4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Busca resolver un </a:t>
            </a:r>
            <a:pPr indent="0" marL="0">
              <a:lnSpc>
                <a:spcPts val="1989"/>
              </a:lnSpc>
              <a:buNone/>
            </a:pPr>
            <a:r>
              <a:rPr lang="en-US" sz="122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problema específico</a:t>
            </a:r>
            <a:pPr indent="0" marL="0">
              <a:lnSpc>
                <a:spcPts val="1989"/>
              </a:lnSpc>
              <a:buNone/>
            </a:pPr>
            <a:r>
              <a:rPr lang="en-US" sz="1224" dirty="0">
                <a:solidFill>
                  <a:srgbClr val="DBE4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224" dirty="0"/>
          </a:p>
          <a:p>
            <a:pPr marL="342900" indent="-342900">
              <a:lnSpc>
                <a:spcPts val="1989"/>
              </a:lnSpc>
              <a:buSzPct val="100000"/>
              <a:buChar char="•"/>
            </a:pPr>
            <a:r>
              <a:rPr lang="en-US" sz="1224" dirty="0">
                <a:solidFill>
                  <a:srgbClr val="DBE4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Debe tener entrada, proceso, salida, determinismo y finitud.</a:t>
            </a:r>
            <a:endParaRPr lang="en-US" sz="1224" dirty="0"/>
          </a:p>
        </p:txBody>
      </p:sp>
      <p:sp>
        <p:nvSpPr>
          <p:cNvPr id="10" name="Text 7"/>
          <p:cNvSpPr/>
          <p:nvPr/>
        </p:nvSpPr>
        <p:spPr>
          <a:xfrm>
            <a:off x="4924425" y="1748433"/>
            <a:ext cx="35947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Pensamiento algorítmico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924425" y="2167533"/>
            <a:ext cx="3524250" cy="1414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89"/>
              </a:lnSpc>
              <a:buSzPct val="100000"/>
              <a:buChar char="•"/>
            </a:pPr>
            <a:r>
              <a:rPr lang="en-US" sz="1224" dirty="0">
                <a:solidFill>
                  <a:srgbClr val="DBE4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Descompone tareas complejas en pasos manejables.</a:t>
            </a:r>
            <a:endParaRPr lang="en-US" sz="1224" dirty="0"/>
          </a:p>
          <a:p>
            <a:pPr marL="342900" indent="-342900">
              <a:lnSpc>
                <a:spcPts val="1989"/>
              </a:lnSpc>
              <a:buSzPct val="100000"/>
              <a:buChar char="•"/>
            </a:pPr>
            <a:r>
              <a:rPr lang="en-US" sz="1224" dirty="0">
                <a:solidFill>
                  <a:srgbClr val="DBE4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Anticipa resultados antes de programar.</a:t>
            </a:r>
            <a:endParaRPr lang="en-US" sz="1224" dirty="0"/>
          </a:p>
          <a:p>
            <a:pPr marL="342900" indent="-342900">
              <a:lnSpc>
                <a:spcPts val="1989"/>
              </a:lnSpc>
              <a:buSzPct val="100000"/>
              <a:buChar char="•"/>
            </a:pPr>
            <a:r>
              <a:rPr lang="en-US" sz="1224" dirty="0">
                <a:solidFill>
                  <a:srgbClr val="DBE4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apoya en secuencialidad, condicionalidad, repetición, abstracción y modularidad.</a:t>
            </a:r>
            <a:endParaRPr lang="en-US" sz="1224" dirty="0"/>
          </a:p>
        </p:txBody>
      </p:sp>
      <p:sp>
        <p:nvSpPr>
          <p:cNvPr id="12" name="Text 9"/>
          <p:cNvSpPr/>
          <p:nvPr/>
        </p:nvSpPr>
        <p:spPr>
          <a:xfrm>
            <a:off x="5101530" y="3934420"/>
            <a:ext cx="31700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 ejemplo: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sumar dos números implica leer A y B, calcular A + B y mostrar el resultado.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2189"/>
            <a:ext cx="685800" cy="38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588889"/>
            <a:ext cx="2616101" cy="2152650"/>
          </a:xfrm>
          <a:prstGeom prst="roundRect">
            <a:avLst>
              <a:gd name="adj" fmla="val 93451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381000" dist="9525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3263801" y="1588889"/>
            <a:ext cx="2616250" cy="2152650"/>
          </a:xfrm>
          <a:prstGeom prst="roundRect">
            <a:avLst>
              <a:gd name="adj" fmla="val 93451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381000" dist="9525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070550" y="1588889"/>
            <a:ext cx="2616101" cy="2152650"/>
          </a:xfrm>
          <a:prstGeom prst="roundRect">
            <a:avLst>
              <a:gd name="adj" fmla="val 93451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381000" dist="9525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57200" y="3932039"/>
            <a:ext cx="2616101" cy="1009650"/>
          </a:xfrm>
          <a:prstGeom prst="roundRect">
            <a:avLst>
              <a:gd name="adj" fmla="val 163019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3263801" y="3932039"/>
            <a:ext cx="2616250" cy="1009650"/>
          </a:xfrm>
          <a:prstGeom prst="roundRect">
            <a:avLst>
              <a:gd name="adj" fmla="val 163019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070550" y="3932039"/>
            <a:ext cx="2616101" cy="1009650"/>
          </a:xfrm>
          <a:prstGeom prst="roundRect">
            <a:avLst>
              <a:gd name="adj" fmla="val 163019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457200" y="249436"/>
            <a:ext cx="743388" cy="173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68"/>
              </a:lnSpc>
              <a:buNone/>
            </a:pPr>
            <a:r>
              <a:rPr lang="en-US" sz="912" dirty="0">
                <a:solidFill>
                  <a:srgbClr val="C4B5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Bloque 2</a:t>
            </a:r>
            <a:endParaRPr lang="en-US" sz="912" dirty="0"/>
          </a:p>
        </p:txBody>
      </p:sp>
      <p:sp>
        <p:nvSpPr>
          <p:cNvPr id="10" name="Text 7"/>
          <p:cNvSpPr/>
          <p:nvPr/>
        </p:nvSpPr>
        <p:spPr>
          <a:xfrm>
            <a:off x="457200" y="522089"/>
            <a:ext cx="8394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3600" dirty="0">
                <a:solidFill>
                  <a:srgbClr val="F8FAF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Componentes y estructuras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657225" y="1788914"/>
            <a:ext cx="226037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📥</a:t>
            </a:r>
            <a:endParaRPr lang="en-US" sz="2700" dirty="0"/>
          </a:p>
        </p:txBody>
      </p:sp>
      <p:sp>
        <p:nvSpPr>
          <p:cNvPr id="12" name="Text 9"/>
          <p:cNvSpPr/>
          <p:nvPr/>
        </p:nvSpPr>
        <p:spPr>
          <a:xfrm>
            <a:off x="657225" y="2284214"/>
            <a:ext cx="22603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Entrada / salida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57225" y="2627114"/>
            <a:ext cx="221605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BE4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entrada es la información necesaria y la salida es el resultado producido tras el procesamiento.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463826" y="1788914"/>
            <a:ext cx="226052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⚙️</a:t>
            </a:r>
            <a:endParaRPr lang="en-US" sz="2700" dirty="0"/>
          </a:p>
        </p:txBody>
      </p:sp>
      <p:sp>
        <p:nvSpPr>
          <p:cNvPr id="15" name="Text 12"/>
          <p:cNvSpPr/>
          <p:nvPr/>
        </p:nvSpPr>
        <p:spPr>
          <a:xfrm>
            <a:off x="3463826" y="2284214"/>
            <a:ext cx="22605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Procesamiento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3463826" y="2627114"/>
            <a:ext cx="221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BE4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Son las reglas e instrucciones lógicas que transforman datos y permiten resolver el problema.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270575" y="1788914"/>
            <a:ext cx="226037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📦</a:t>
            </a:r>
            <a:endParaRPr lang="en-US" sz="2700" dirty="0"/>
          </a:p>
        </p:txBody>
      </p:sp>
      <p:sp>
        <p:nvSpPr>
          <p:cNvPr id="18" name="Text 15"/>
          <p:cNvSpPr/>
          <p:nvPr/>
        </p:nvSpPr>
        <p:spPr>
          <a:xfrm>
            <a:off x="6270575" y="2284214"/>
            <a:ext cx="22603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Variables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6270575" y="2627114"/>
            <a:ext cx="221605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BE4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Son espacios con nombre que almacenan valores que pueden cambiar durante la ejecución.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57200" y="3932039"/>
            <a:ext cx="2616101" cy="1009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Secuencia: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las instrucciones se ejecutan en el orden escrito.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3263801" y="3932039"/>
            <a:ext cx="2616250" cy="1009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Condicionales: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permiten decidir según una condición.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070550" y="3932039"/>
            <a:ext cx="2616101" cy="1009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Repetitivas: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repiten un bloque con Para, Mientras o Repetir-Hasta.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03089"/>
            <a:ext cx="685800" cy="38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169789"/>
            <a:ext cx="4000500" cy="3143250"/>
          </a:xfrm>
          <a:prstGeom prst="roundRect">
            <a:avLst>
              <a:gd name="adj" fmla="val 64000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381000" dist="9525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686300" y="1169789"/>
            <a:ext cx="4000500" cy="3143250"/>
          </a:xfrm>
          <a:prstGeom prst="roundRect">
            <a:avLst>
              <a:gd name="adj" fmla="val 64000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381000" dist="9525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457200" y="4503539"/>
            <a:ext cx="8229600" cy="857250"/>
          </a:xfrm>
          <a:prstGeom prst="roundRect">
            <a:avLst>
              <a:gd name="adj" fmla="val 234667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381000" dist="9525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57200" y="-169664"/>
            <a:ext cx="753103" cy="173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68"/>
              </a:lnSpc>
              <a:buNone/>
            </a:pPr>
            <a:r>
              <a:rPr lang="en-US" sz="912" dirty="0">
                <a:solidFill>
                  <a:srgbClr val="C4B5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Bloque 3</a:t>
            </a:r>
            <a:endParaRPr lang="en-US" sz="912" dirty="0"/>
          </a:p>
        </p:txBody>
      </p:sp>
      <p:sp>
        <p:nvSpPr>
          <p:cNvPr id="7" name="Text 4"/>
          <p:cNvSpPr/>
          <p:nvPr/>
        </p:nvSpPr>
        <p:spPr>
          <a:xfrm>
            <a:off x="457200" y="102989"/>
            <a:ext cx="8394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3600" dirty="0">
                <a:solidFill>
                  <a:srgbClr val="F8FAF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Pseudocódigo, PSeInt y diagramas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695325" y="1407914"/>
            <a:ext cx="35947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Pseudocódigo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95325" y="1788914"/>
            <a:ext cx="3524250" cy="2209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Puente entre lenguaje natural y programación real.</a:t>
            </a:r>
            <a:endParaRPr lang="en-US" sz="1200" dirty="0"/>
          </a:p>
          <a:p>
            <a:pPr marL="342900" indent="-342900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Permite pensar en lógica sin depender de una sintaxis exacta.</a:t>
            </a:r>
            <a:endParaRPr lang="en-US" sz="1200" dirty="0"/>
          </a:p>
          <a:p>
            <a:pPr marL="342900" indent="-342900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Usa Inicio, Fin, Leer, Mostrar, Si, Entonces, Para, Mientras y asignaciones.</a:t>
            </a:r>
            <a:endParaRPr lang="en-US" sz="1200" dirty="0"/>
          </a:p>
          <a:p>
            <a:pPr marL="342900" indent="-342900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claridad y la sangría ayudan a evitar ambigüedades.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924425" y="1407914"/>
            <a:ext cx="35947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PSeInt y flujo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924425" y="1788914"/>
            <a:ext cx="3524250" cy="2209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PSeInt permite escribir, ejecutar y depurar pseudocódigo.</a:t>
            </a:r>
            <a:endParaRPr lang="en-US" sz="1200" dirty="0"/>
          </a:p>
          <a:p>
            <a:pPr marL="342900" indent="-342900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modo paso a paso muestra variables, decisiones y bucles.</a:t>
            </a:r>
            <a:endParaRPr lang="en-US" sz="1200" dirty="0"/>
          </a:p>
          <a:p>
            <a:pPr marL="342900" indent="-342900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diagramas de flujo usan óvalos, rectángulos, rombos, paralelogramos y flechas.</a:t>
            </a:r>
            <a:endParaRPr lang="en-US" sz="1200" dirty="0"/>
          </a:p>
          <a:p>
            <a:pPr marL="342900" indent="-342900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Pseudocódigo da detalle; diagrama da visión global.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57225" y="4703564"/>
            <a:ext cx="78295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 para memorizar: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BE4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si la lógica está bien diseñada en pseudocódigo y validada en PSeInt, pasarla a un lenguaje real será mucho más fácil.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811709"/>
            <a:ext cx="685800" cy="38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078409"/>
            <a:ext cx="4000500" cy="2609850"/>
          </a:xfrm>
          <a:prstGeom prst="roundRect">
            <a:avLst>
              <a:gd name="adj" fmla="val 77080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381000" dist="9525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686300" y="1078409"/>
            <a:ext cx="4000500" cy="2609850"/>
          </a:xfrm>
          <a:prstGeom prst="roundRect">
            <a:avLst>
              <a:gd name="adj" fmla="val 77080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381000" dist="9525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457200" y="3878759"/>
            <a:ext cx="2616101" cy="1573560"/>
          </a:xfrm>
          <a:prstGeom prst="roundRect">
            <a:avLst>
              <a:gd name="adj" fmla="val 104598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3263801" y="3878759"/>
            <a:ext cx="2616250" cy="1573560"/>
          </a:xfrm>
          <a:prstGeom prst="roundRect">
            <a:avLst>
              <a:gd name="adj" fmla="val 104598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070550" y="3878759"/>
            <a:ext cx="2616101" cy="1573560"/>
          </a:xfrm>
          <a:prstGeom prst="roundRect">
            <a:avLst>
              <a:gd name="adj" fmla="val 104598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457200" y="-261045"/>
            <a:ext cx="753103" cy="173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68"/>
              </a:lnSpc>
              <a:buNone/>
            </a:pPr>
            <a:r>
              <a:rPr lang="en-US" sz="912" dirty="0">
                <a:solidFill>
                  <a:srgbClr val="C4B5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Bloque 4</a:t>
            </a:r>
            <a:endParaRPr lang="en-US" sz="912" dirty="0"/>
          </a:p>
        </p:txBody>
      </p:sp>
      <p:sp>
        <p:nvSpPr>
          <p:cNvPr id="9" name="Text 6"/>
          <p:cNvSpPr/>
          <p:nvPr/>
        </p:nvSpPr>
        <p:spPr>
          <a:xfrm>
            <a:off x="457200" y="11609"/>
            <a:ext cx="8394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3600" dirty="0">
                <a:solidFill>
                  <a:srgbClr val="F8FAF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IA aplicada a programación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695325" y="1316534"/>
            <a:ext cx="35947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cambia con la IA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95325" y="1735634"/>
            <a:ext cx="3524250" cy="163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Ayuda a escribir, corregir, documentar y optimizar código.</a:t>
            </a:r>
            <a:endParaRPr lang="en-US" sz="1200" dirty="0"/>
          </a:p>
          <a:p>
            <a:pPr marL="342900" indent="-342900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 tiempos de desarrollo y mejora productividad.</a:t>
            </a:r>
            <a:endParaRPr lang="en-US" sz="1200" dirty="0"/>
          </a:p>
          <a:p>
            <a:pPr marL="342900" indent="-342900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programador pasa a un rol más estratégico: pedir, evaluar e integrar.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924425" y="1316534"/>
            <a:ext cx="35947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Aplicaciones comunes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924425" y="1735634"/>
            <a:ext cx="3524250" cy="1390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Autocompletado inteligente y asistencia en tiempo real.</a:t>
            </a:r>
            <a:endParaRPr lang="en-US" sz="1200" dirty="0"/>
          </a:p>
          <a:p>
            <a:pPr marL="342900" indent="-342900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Explicación de código y detección de errores.</a:t>
            </a:r>
            <a:endParaRPr lang="en-US" sz="1200" dirty="0"/>
          </a:p>
          <a:p>
            <a:pPr marL="342900" indent="-342900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Boilerplate, conversión entre lenguajes y pruebas unitarias.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34305" y="3983534"/>
            <a:ext cx="349758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40"/>
              </a:lnSpc>
              <a:buNone/>
            </a:pPr>
            <a:r>
              <a:rPr lang="en-US" sz="384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3840" dirty="0"/>
          </a:p>
        </p:txBody>
      </p:sp>
      <p:sp>
        <p:nvSpPr>
          <p:cNvPr id="15" name="Text 12"/>
          <p:cNvSpPr/>
          <p:nvPr/>
        </p:nvSpPr>
        <p:spPr>
          <a:xfrm>
            <a:off x="634305" y="4604593"/>
            <a:ext cx="2307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BE4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tipos de IA presentados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440906" y="3983534"/>
            <a:ext cx="349758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40"/>
              </a:lnSpc>
              <a:buNone/>
            </a:pPr>
            <a:r>
              <a:rPr lang="en-US" sz="384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3840" dirty="0"/>
          </a:p>
        </p:txBody>
      </p:sp>
      <p:sp>
        <p:nvSpPr>
          <p:cNvPr id="17" name="Text 14"/>
          <p:cNvSpPr/>
          <p:nvPr/>
        </p:nvSpPr>
        <p:spPr>
          <a:xfrm>
            <a:off x="3440906" y="4604593"/>
            <a:ext cx="22620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BE4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ideas clave para un buen prompt: claro, directo y específico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247656" y="3983534"/>
            <a:ext cx="349758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40"/>
              </a:lnSpc>
              <a:buNone/>
            </a:pPr>
            <a:r>
              <a:rPr lang="en-US" sz="384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3840" dirty="0"/>
          </a:p>
        </p:txBody>
      </p:sp>
      <p:sp>
        <p:nvSpPr>
          <p:cNvPr id="19" name="Text 16"/>
          <p:cNvSpPr/>
          <p:nvPr/>
        </p:nvSpPr>
        <p:spPr>
          <a:xfrm>
            <a:off x="6247656" y="4604593"/>
            <a:ext cx="22618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BE4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mejores prácticas para optimizar prompts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832842"/>
            <a:ext cx="685800" cy="38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099542"/>
            <a:ext cx="4000500" cy="3283744"/>
          </a:xfrm>
          <a:prstGeom prst="roundRect">
            <a:avLst>
              <a:gd name="adj" fmla="val 61262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381000" dist="9525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686300" y="1099542"/>
            <a:ext cx="4000500" cy="3283744"/>
          </a:xfrm>
          <a:prstGeom prst="roundRect">
            <a:avLst>
              <a:gd name="adj" fmla="val 61262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381000" dist="9525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457200" y="4573786"/>
            <a:ext cx="8229600" cy="857250"/>
          </a:xfrm>
          <a:prstGeom prst="roundRect">
            <a:avLst>
              <a:gd name="adj" fmla="val 234667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381000" dist="9525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24425" y="1756767"/>
          <a:ext cx="3524250" cy="2388394"/>
        </p:xfrm>
        <a:graphic>
          <a:graphicData uri="http://schemas.openxmlformats.org/drawingml/2006/table">
            <a:tbl>
              <a:tblPr/>
              <a:tblGrid>
                <a:gridCol w="1762125"/>
                <a:gridCol w="1762125"/>
              </a:tblGrid>
              <a:tr h="47767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16" b="1" dirty="0">
                          <a:solidFill>
                            <a:srgbClr val="C4B5F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Modelo</a:t>
                      </a:r>
                      <a:endParaRPr lang="en-US" sz="1116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16" b="1" dirty="0">
                          <a:solidFill>
                            <a:srgbClr val="C4B5F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Idea</a:t>
                      </a:r>
                      <a:endParaRPr lang="en-US" sz="1116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67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16" dirty="0">
                          <a:solidFill>
                            <a:srgbClr val="F8FAF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RTF</a:t>
                      </a:r>
                      <a:endParaRPr lang="en-US" sz="1116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16" dirty="0">
                          <a:solidFill>
                            <a:srgbClr val="F8FAF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Rol + Tarea + Formato</a:t>
                      </a:r>
                      <a:endParaRPr lang="en-US" sz="1116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67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16" dirty="0">
                          <a:solidFill>
                            <a:srgbClr val="F8FAF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Gherkin</a:t>
                      </a:r>
                      <a:endParaRPr lang="en-US" sz="1116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16" dirty="0">
                          <a:solidFill>
                            <a:srgbClr val="F8FAF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Dado + Cuando + Entonces</a:t>
                      </a:r>
                      <a:endParaRPr lang="en-US" sz="1116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67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16" dirty="0">
                          <a:solidFill>
                            <a:srgbClr val="F8FAF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INVEST</a:t>
                      </a:r>
                      <a:endParaRPr lang="en-US" sz="1116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16" dirty="0">
                          <a:solidFill>
                            <a:srgbClr val="F8FAF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Pedido pequeño, valioso y testeable</a:t>
                      </a:r>
                      <a:endParaRPr lang="en-US" sz="1116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67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16" dirty="0">
                          <a:solidFill>
                            <a:srgbClr val="F8FAF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CLEAR</a:t>
                      </a:r>
                      <a:endParaRPr lang="en-US" sz="1116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16" dirty="0">
                          <a:solidFill>
                            <a:srgbClr val="F8FAF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Acción + necesidad + contexto + restricciones + formato</a:t>
                      </a:r>
                      <a:endParaRPr lang="en-US" sz="1116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-239911"/>
            <a:ext cx="743388" cy="173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68"/>
              </a:lnSpc>
              <a:buNone/>
            </a:pPr>
            <a:r>
              <a:rPr lang="en-US" sz="912" dirty="0">
                <a:solidFill>
                  <a:srgbClr val="C4B5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Bloque 5</a:t>
            </a:r>
            <a:endParaRPr lang="en-US" sz="912" dirty="0"/>
          </a:p>
        </p:txBody>
      </p:sp>
      <p:sp>
        <p:nvSpPr>
          <p:cNvPr id="8" name="Text 4"/>
          <p:cNvSpPr/>
          <p:nvPr/>
        </p:nvSpPr>
        <p:spPr>
          <a:xfrm>
            <a:off x="457200" y="32742"/>
            <a:ext cx="8394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3600" dirty="0">
                <a:solidFill>
                  <a:srgbClr val="F8FAF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Prompts: estructura y mejora</a:t>
            </a:r>
            <a:endParaRPr lang="en-US" sz="3600" dirty="0"/>
          </a:p>
        </p:txBody>
      </p:sp>
      <p:sp>
        <p:nvSpPr>
          <p:cNvPr id="9" name="Text 5"/>
          <p:cNvSpPr/>
          <p:nvPr/>
        </p:nvSpPr>
        <p:spPr>
          <a:xfrm>
            <a:off x="695325" y="1337667"/>
            <a:ext cx="35947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debe tener un prompt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695325" y="1756767"/>
            <a:ext cx="352425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Objetivo claro: qué se necesita obtener.</a:t>
            </a:r>
            <a:endParaRPr lang="en-US" sz="1200" dirty="0"/>
          </a:p>
          <a:p>
            <a:pPr marL="342900" indent="-342900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Acción definida: explicar, generar, corregir, optimizar.</a:t>
            </a:r>
            <a:endParaRPr lang="en-US" sz="1200" dirty="0"/>
          </a:p>
          <a:p>
            <a:pPr marL="342900" indent="-342900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Contexto: lenguaje, caso de uso, escenario.</a:t>
            </a:r>
            <a:endParaRPr lang="en-US" sz="1200" dirty="0"/>
          </a:p>
          <a:p>
            <a:pPr marL="342900" indent="-342900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Detalles y restricciones: formato, límites, framework.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924425" y="1337667"/>
            <a:ext cx="35947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Modelos enseñados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57225" y="4773811"/>
            <a:ext cx="78295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Ciclo de ingeniería de prompts: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BE4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definir objetivo → escribir prompt inicial → probar → analizar resultado → refinar e iterar.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36439"/>
            <a:ext cx="685800" cy="38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303139"/>
            <a:ext cx="2616101" cy="1924050"/>
          </a:xfrm>
          <a:prstGeom prst="roundRect">
            <a:avLst>
              <a:gd name="adj" fmla="val 104554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381000" dist="9525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3263801" y="1303139"/>
            <a:ext cx="2616250" cy="1924050"/>
          </a:xfrm>
          <a:prstGeom prst="roundRect">
            <a:avLst>
              <a:gd name="adj" fmla="val 104554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381000" dist="9525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070550" y="1303139"/>
            <a:ext cx="2616101" cy="1924050"/>
          </a:xfrm>
          <a:prstGeom prst="roundRect">
            <a:avLst>
              <a:gd name="adj" fmla="val 104554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381000" dist="9525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57200" y="3989189"/>
            <a:ext cx="4000500" cy="152400"/>
          </a:xfrm>
          <a:prstGeom prst="roundRect">
            <a:avLst>
              <a:gd name="adj" fmla="val 59940000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457200" y="4522589"/>
            <a:ext cx="4000500" cy="152400"/>
          </a:xfrm>
          <a:prstGeom prst="roundRect">
            <a:avLst>
              <a:gd name="adj" fmla="val 59940000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457200" y="5055989"/>
            <a:ext cx="4000500" cy="152400"/>
          </a:xfrm>
          <a:prstGeom prst="roundRect">
            <a:avLst>
              <a:gd name="adj" fmla="val 59940000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4686300" y="3455789"/>
            <a:ext cx="4000500" cy="1771650"/>
          </a:xfrm>
          <a:prstGeom prst="roundRect">
            <a:avLst>
              <a:gd name="adj" fmla="val 113548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381000" dist="9525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457200" y="-36314"/>
            <a:ext cx="753103" cy="173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68"/>
              </a:lnSpc>
              <a:buNone/>
            </a:pPr>
            <a:r>
              <a:rPr lang="en-US" sz="912" dirty="0">
                <a:solidFill>
                  <a:srgbClr val="C4B5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Bloque 6</a:t>
            </a:r>
            <a:endParaRPr lang="en-US" sz="912" dirty="0"/>
          </a:p>
        </p:txBody>
      </p:sp>
      <p:sp>
        <p:nvSpPr>
          <p:cNvPr id="11" name="Text 8"/>
          <p:cNvSpPr/>
          <p:nvPr/>
        </p:nvSpPr>
        <p:spPr>
          <a:xfrm>
            <a:off x="457200" y="236339"/>
            <a:ext cx="8394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3600" dirty="0">
                <a:solidFill>
                  <a:srgbClr val="F8FAF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Herramientas, ética y beneficios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657225" y="1503164"/>
            <a:ext cx="22603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Herramientas vistas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57225" y="1884164"/>
            <a:ext cx="221605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BE4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ChatGPT, Gemini, Claude, GitHub Copilot, Hugging Face, Notion AI, Gamma, Canva AI y DALL·E.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463826" y="1503164"/>
            <a:ext cx="22605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Beneficios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3463826" y="1884164"/>
            <a:ext cx="221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BE4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Más productividad, mejor calidad de código, apoyo en aprendizaje, documentación automática, debugging y testing.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270575" y="1503164"/>
            <a:ext cx="22603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Ética y seguridad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6270575" y="1884164"/>
            <a:ext cx="2216051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BE4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Citar fuentes cuando corresponda, evitar usos maliciosos y revisar siempre el resultado porque la IA no es infalible.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7200" y="3455789"/>
            <a:ext cx="408051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Beneficios concretos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57200" y="3722489"/>
            <a:ext cx="10201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Productividad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181475" y="3722489"/>
            <a:ext cx="281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Alta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57200" y="4255889"/>
            <a:ext cx="8743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Aprendizaje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838575" y="4255889"/>
            <a:ext cx="6315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Muy alto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57200" y="4789289"/>
            <a:ext cx="11464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Documentación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181475" y="4789289"/>
            <a:ext cx="281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Alta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886325" y="3655814"/>
            <a:ext cx="367245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 crítica para examen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4886325" y="4036814"/>
            <a:ext cx="36004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DBE4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IA no reemplaza el razonamiento del desarrollador. Su valor real aparece cuando se combina con pensamiento lógico, validación, pruebas y criterio profesional.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456557"/>
            <a:ext cx="8229600" cy="2409825"/>
          </a:xfrm>
          <a:prstGeom prst="roundRect">
            <a:avLst>
              <a:gd name="adj" fmla="val 83478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381000" dist="9525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74904" y="-179933"/>
            <a:ext cx="83941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800"/>
              </a:lnSpc>
              <a:buNone/>
            </a:pPr>
            <a:r>
              <a:rPr lang="en-US" sz="72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🧠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374904" y="1344067"/>
            <a:ext cx="8394192" cy="960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560"/>
              </a:lnSpc>
              <a:buNone/>
            </a:pPr>
            <a:r>
              <a:rPr lang="en-US" sz="5040" dirty="0">
                <a:solidFill>
                  <a:srgbClr val="7C3AE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Qué debes dominar</a:t>
            </a:r>
            <a:endParaRPr lang="en-US" sz="5040" dirty="0"/>
          </a:p>
        </p:txBody>
      </p:sp>
      <p:sp>
        <p:nvSpPr>
          <p:cNvPr id="5" name="Text 3"/>
          <p:cNvSpPr/>
          <p:nvPr/>
        </p:nvSpPr>
        <p:spPr>
          <a:xfrm>
            <a:off x="733425" y="2732782"/>
            <a:ext cx="3724275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9"/>
              </a:lnSpc>
              <a:buNone/>
            </a:pPr>
            <a:r>
              <a:rPr lang="en-US" sz="1224" dirty="0">
                <a:solidFill>
                  <a:srgbClr val="DBE4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 Comprender qué es un algoritmo y cómo se estructura.</a:t>
            </a:r>
            <a:endParaRPr lang="en-US" sz="1224" dirty="0"/>
          </a:p>
        </p:txBody>
      </p:sp>
      <p:sp>
        <p:nvSpPr>
          <p:cNvPr id="6" name="Text 4"/>
          <p:cNvSpPr/>
          <p:nvPr/>
        </p:nvSpPr>
        <p:spPr>
          <a:xfrm>
            <a:off x="733425" y="3351907"/>
            <a:ext cx="3724275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9"/>
              </a:lnSpc>
              <a:buNone/>
            </a:pPr>
            <a:r>
              <a:rPr lang="en-US" sz="1224" dirty="0">
                <a:solidFill>
                  <a:srgbClr val="DBE4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 Escribir pseudocódigo claro con estructuras de control.</a:t>
            </a:r>
            <a:endParaRPr lang="en-US" sz="1224" dirty="0"/>
          </a:p>
        </p:txBody>
      </p:sp>
      <p:sp>
        <p:nvSpPr>
          <p:cNvPr id="7" name="Text 5"/>
          <p:cNvSpPr/>
          <p:nvPr/>
        </p:nvSpPr>
        <p:spPr>
          <a:xfrm>
            <a:off x="733425" y="3971032"/>
            <a:ext cx="3724275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9"/>
              </a:lnSpc>
              <a:buNone/>
            </a:pPr>
            <a:r>
              <a:rPr lang="en-US" sz="1224" dirty="0">
                <a:solidFill>
                  <a:srgbClr val="DBE4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 Usar PSeInt para ejecutar y detectar errores lógicos.</a:t>
            </a:r>
            <a:endParaRPr lang="en-US" sz="1224" dirty="0"/>
          </a:p>
        </p:txBody>
      </p:sp>
      <p:sp>
        <p:nvSpPr>
          <p:cNvPr id="8" name="Text 6"/>
          <p:cNvSpPr/>
          <p:nvPr/>
        </p:nvSpPr>
        <p:spPr>
          <a:xfrm>
            <a:off x="4686300" y="2732782"/>
            <a:ext cx="3798761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9"/>
              </a:lnSpc>
              <a:buNone/>
            </a:pPr>
            <a:r>
              <a:rPr lang="en-US" sz="1224" dirty="0">
                <a:solidFill>
                  <a:srgbClr val="DBE4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 Interpretar diagramas de flujo y su simbología.</a:t>
            </a:r>
            <a:endParaRPr lang="en-US" sz="1224" dirty="0"/>
          </a:p>
        </p:txBody>
      </p:sp>
      <p:sp>
        <p:nvSpPr>
          <p:cNvPr id="9" name="Text 7"/>
          <p:cNvSpPr/>
          <p:nvPr/>
        </p:nvSpPr>
        <p:spPr>
          <a:xfrm>
            <a:off x="4686300" y="3099495"/>
            <a:ext cx="3798761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9"/>
              </a:lnSpc>
              <a:buNone/>
            </a:pPr>
            <a:r>
              <a:rPr lang="en-US" sz="1224" dirty="0">
                <a:solidFill>
                  <a:srgbClr val="DBE4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 Diseñar prompts claros, directos y específicos.</a:t>
            </a:r>
            <a:endParaRPr lang="en-US" sz="1224" dirty="0"/>
          </a:p>
        </p:txBody>
      </p:sp>
      <p:sp>
        <p:nvSpPr>
          <p:cNvPr id="10" name="Text 8"/>
          <p:cNvSpPr/>
          <p:nvPr/>
        </p:nvSpPr>
        <p:spPr>
          <a:xfrm>
            <a:off x="4686300" y="3466207"/>
            <a:ext cx="3798761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9"/>
              </a:lnSpc>
              <a:buNone/>
            </a:pPr>
            <a:r>
              <a:rPr lang="en-US" sz="1224" dirty="0">
                <a:solidFill>
                  <a:srgbClr val="DBE4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 Usar IA con criterio, ética y validación técnica.</a:t>
            </a:r>
            <a:endParaRPr lang="en-US" sz="1224" dirty="0"/>
          </a:p>
        </p:txBody>
      </p:sp>
      <p:sp>
        <p:nvSpPr>
          <p:cNvPr id="11" name="Text 9"/>
          <p:cNvSpPr/>
          <p:nvPr/>
        </p:nvSpPr>
        <p:spPr>
          <a:xfrm>
            <a:off x="374904" y="5094982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Estudiar lógica primero · usar IA después, pero con criterio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2026-04-28T20:55:28Z</dcterms:created>
  <dcterms:modified xsi:type="dcterms:W3CDTF">2026-04-28T20:55:28Z</dcterms:modified>
</cp:coreProperties>
</file>