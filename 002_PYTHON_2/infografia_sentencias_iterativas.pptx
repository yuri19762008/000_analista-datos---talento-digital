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946327"/>
            <a:ext cx="8229600" cy="1312069"/>
          </a:xfrm>
          <a:prstGeom prst="roundRect">
            <a:avLst>
              <a:gd name="adj" fmla="val 15332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4904" y="-114895"/>
            <a:ext cx="839419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0"/>
              </a:lnSpc>
              <a:buNone/>
            </a:pPr>
            <a:r>
              <a:rPr lang="en-US" sz="9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🔁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74904" y="1752005"/>
            <a:ext cx="8394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0"/>
              </a:lnSpc>
              <a:buNone/>
            </a:pPr>
            <a:r>
              <a:rPr lang="en-US" sz="6000" b="1" dirty="0">
                <a:solidFill>
                  <a:srgbClr val="22C55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Sentencias iterativas en Python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047405"/>
            <a:ext cx="8229600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A7B8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Infografía explicada como profesor de programación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695325" y="4184452"/>
            <a:ext cx="77533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central:</a:t>
            </a:r>
            <a:pPr algn="l"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los bucles permiten automatizar tareas repetitivas. La clave no es solo memorizar `while` o `for`, sino entender qué controla la repetición: una condición, una colección o una secuencia numérica.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79377"/>
            <a:ext cx="6858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46077"/>
            <a:ext cx="4000500" cy="2638425"/>
          </a:xfrm>
          <a:prstGeom prst="roundRect">
            <a:avLst>
              <a:gd name="adj" fmla="val 7624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86300" y="1946077"/>
            <a:ext cx="4000500" cy="2638425"/>
          </a:xfrm>
          <a:prstGeom prst="roundRect">
            <a:avLst>
              <a:gd name="adj" fmla="val 7624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" y="606623"/>
            <a:ext cx="723957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912" dirty="0">
                <a:solidFill>
                  <a:srgbClr val="BBF7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1</a:t>
            </a:r>
            <a:endParaRPr lang="en-US" sz="912" dirty="0"/>
          </a:p>
        </p:txBody>
      </p:sp>
      <p:sp>
        <p:nvSpPr>
          <p:cNvPr id="6" name="Text 3"/>
          <p:cNvSpPr/>
          <p:nvPr/>
        </p:nvSpPr>
        <p:spPr>
          <a:xfrm>
            <a:off x="457200" y="879277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Qué son y por qué importan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95325" y="2184202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3B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Definición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5325" y="2603302"/>
            <a:ext cx="3524250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Permiten repetir un bloque de instrucciones varias veces.</a:t>
            </a:r>
            <a:endParaRPr lang="en-US" sz="1224" dirty="0"/>
          </a:p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Evitan escribir el mismo código de forma manual.</a:t>
            </a:r>
            <a:endParaRPr lang="en-US" sz="1224" dirty="0"/>
          </a:p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 esenciales al trabajar con listas, tuplas, diccionarios o grandes conjuntos de datos.</a:t>
            </a:r>
            <a:endParaRPr lang="en-US" sz="1224" dirty="0"/>
          </a:p>
        </p:txBody>
      </p:sp>
      <p:sp>
        <p:nvSpPr>
          <p:cNvPr id="9" name="Text 6"/>
          <p:cNvSpPr/>
          <p:nvPr/>
        </p:nvSpPr>
        <p:spPr>
          <a:xfrm>
            <a:off x="4924425" y="2184202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B69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Ventajas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924425" y="2603302"/>
            <a:ext cx="3524250" cy="149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Eficiencia: menos repetición manual.</a:t>
            </a:r>
            <a:endParaRPr lang="en-US" sz="1224" dirty="0"/>
          </a:p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Mantenimiento: código más limpio y menos redundante.</a:t>
            </a:r>
            <a:endParaRPr lang="en-US" sz="1224" dirty="0"/>
          </a:p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Flexibilidad: se adapta a distintos problemas.</a:t>
            </a:r>
            <a:endParaRPr lang="en-US" sz="1224" dirty="0"/>
          </a:p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Optimización: simplifica algoritmos complejos.</a:t>
            </a:r>
            <a:endParaRPr lang="en-US" sz="122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26914"/>
            <a:ext cx="6858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93614"/>
            <a:ext cx="4000500" cy="2895600"/>
          </a:xfrm>
          <a:prstGeom prst="roundRect">
            <a:avLst>
              <a:gd name="adj" fmla="val 6947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86300" y="1293614"/>
            <a:ext cx="4000500" cy="2895600"/>
          </a:xfrm>
          <a:prstGeom prst="roundRect">
            <a:avLst>
              <a:gd name="adj" fmla="val 6947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" y="4379714"/>
            <a:ext cx="8229600" cy="857250"/>
          </a:xfrm>
          <a:prstGeom prst="roundRect">
            <a:avLst>
              <a:gd name="adj" fmla="val 23466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-45839"/>
            <a:ext cx="743388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912" dirty="0">
                <a:solidFill>
                  <a:srgbClr val="BBF7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2</a:t>
            </a:r>
            <a:endParaRPr lang="en-US" sz="912" dirty="0"/>
          </a:p>
        </p:txBody>
      </p:sp>
      <p:sp>
        <p:nvSpPr>
          <p:cNvPr id="7" name="Text 4"/>
          <p:cNvSpPr/>
          <p:nvPr/>
        </p:nvSpPr>
        <p:spPr>
          <a:xfrm>
            <a:off x="457200" y="226814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While vs For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95325" y="1531739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`while`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5325" y="1912739"/>
            <a:ext cx="3524250" cy="196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Repite mientras una condición sea verdadera.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Conviene cuando no conoces el número exacto de repeticiones.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Ejemplos: validar una entrada, monitorear un proceso, esperar un evento.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Riesgo: bucle infinito si no actualizas la variable de control.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24425" y="1531739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`for`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924425" y="1912739"/>
            <a:ext cx="3524250" cy="196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Recorre automáticamente elementos de una colección.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Conviene cuando iteras listas, tuplas, diccionarios o secuencias.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exige manejar manualmente el avance en los casos normales.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más legible y reduce errores comunes.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7225" y="4579739"/>
            <a:ext cx="7829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 práctica: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la repetición depende de una condición, piensa en `while`; si depende de elementos o repeticiones contadas, piensa en `for`.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36489"/>
            <a:ext cx="6858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03189"/>
            <a:ext cx="2616101" cy="2152650"/>
          </a:xfrm>
          <a:prstGeom prst="roundRect">
            <a:avLst>
              <a:gd name="adj" fmla="val 9345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63801" y="1703189"/>
            <a:ext cx="2616250" cy="2152650"/>
          </a:xfrm>
          <a:prstGeom prst="roundRect">
            <a:avLst>
              <a:gd name="adj" fmla="val 9345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70550" y="1703189"/>
            <a:ext cx="2616101" cy="2152650"/>
          </a:xfrm>
          <a:prstGeom prst="roundRect">
            <a:avLst>
              <a:gd name="adj" fmla="val 9345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4046339"/>
            <a:ext cx="4019550" cy="781050"/>
          </a:xfrm>
          <a:prstGeom prst="roundRect">
            <a:avLst>
              <a:gd name="adj" fmla="val 21073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667250" y="4046339"/>
            <a:ext cx="4019550" cy="781050"/>
          </a:xfrm>
          <a:prstGeom prst="roundRect">
            <a:avLst>
              <a:gd name="adj" fmla="val 21073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363736"/>
            <a:ext cx="753103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912" dirty="0">
                <a:solidFill>
                  <a:srgbClr val="BBF7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3</a:t>
            </a:r>
            <a:endParaRPr lang="en-US" sz="912" dirty="0"/>
          </a:p>
        </p:txBody>
      </p:sp>
      <p:sp>
        <p:nvSpPr>
          <p:cNvPr id="9" name="Text 6"/>
          <p:cNvSpPr/>
          <p:nvPr/>
        </p:nvSpPr>
        <p:spPr>
          <a:xfrm>
            <a:off x="457200" y="636389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Range, listas y diccionarios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57225" y="1903214"/>
            <a:ext cx="22603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🔢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657225" y="2398514"/>
            <a:ext cx="2260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`range()`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57225" y="2741414"/>
            <a:ext cx="22160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 secuencias numéricas. Se usa como `range(fin)`, `range(inicio, fin)` o `range(inicio, fin, paso)`.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63826" y="1903214"/>
            <a:ext cx="226052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3463826" y="2398514"/>
            <a:ext cx="22605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463826" y="2741414"/>
            <a:ext cx="221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`for` puedes recorrer cada elemento, transformarlo, filtrarlo o modificarlo por índice.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70575" y="1903214"/>
            <a:ext cx="22603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🗂️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6270575" y="2398514"/>
            <a:ext cx="2260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Diccionarios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270575" y="2741414"/>
            <a:ext cx="22160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recorren con `items()`, `keys()` y `values()`. Lo más común es usar `items()` para clave y valor.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046339"/>
            <a:ext cx="40195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A3B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Detalle importante: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límite superior de `range()` no se incluye.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667250" y="4046339"/>
            <a:ext cx="40195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A3B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Precaución: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conviene modificar un diccionario directamente mientras lo recorres.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55564"/>
            <a:ext cx="6858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22264"/>
            <a:ext cx="4000500" cy="2686050"/>
          </a:xfrm>
          <a:prstGeom prst="roundRect">
            <a:avLst>
              <a:gd name="adj" fmla="val 7489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86300" y="1922264"/>
            <a:ext cx="4000500" cy="2686050"/>
          </a:xfrm>
          <a:prstGeom prst="roundRect">
            <a:avLst>
              <a:gd name="adj" fmla="val 7489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" y="582811"/>
            <a:ext cx="753103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912" dirty="0">
                <a:solidFill>
                  <a:srgbClr val="BBF7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4</a:t>
            </a:r>
            <a:endParaRPr lang="en-US" sz="912" dirty="0"/>
          </a:p>
        </p:txBody>
      </p:sp>
      <p:sp>
        <p:nvSpPr>
          <p:cNvPr id="6" name="Text 3"/>
          <p:cNvSpPr/>
          <p:nvPr/>
        </p:nvSpPr>
        <p:spPr>
          <a:xfrm>
            <a:off x="457200" y="855464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Herramientas avanzadas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95325" y="2160389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del flujo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5325" y="2579489"/>
            <a:ext cx="3524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break: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corta el bucle de inmediato.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continue: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salta a la siguiente iteración.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Bucles anidados: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útiles, pero más costosos si se abusa de ellos.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24425" y="2160389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Recorrido inteligente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924425" y="2579489"/>
            <a:ext cx="35242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enumerate():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entrega índice y valor.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zip():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recorre varias colecciones a la vez.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Comprensiones: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transforman y filtran con menos código.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Generadores: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producen valores sobre la marcha con mejor uso de memoria.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68909"/>
            <a:ext cx="6858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35609"/>
            <a:ext cx="2616101" cy="1924050"/>
          </a:xfrm>
          <a:prstGeom prst="roundRect">
            <a:avLst>
              <a:gd name="adj" fmla="val 1045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63801" y="1535609"/>
            <a:ext cx="2616250" cy="1924050"/>
          </a:xfrm>
          <a:prstGeom prst="roundRect">
            <a:avLst>
              <a:gd name="adj" fmla="val 1045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70550" y="1535609"/>
            <a:ext cx="2616101" cy="1924050"/>
          </a:xfrm>
          <a:prstGeom prst="roundRect">
            <a:avLst>
              <a:gd name="adj" fmla="val 10455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3650159"/>
            <a:ext cx="2616101" cy="1344960"/>
          </a:xfrm>
          <a:prstGeom prst="roundRect">
            <a:avLst>
              <a:gd name="adj" fmla="val 12237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263801" y="3650159"/>
            <a:ext cx="2616250" cy="1344960"/>
          </a:xfrm>
          <a:prstGeom prst="roundRect">
            <a:avLst>
              <a:gd name="adj" fmla="val 12237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070550" y="3650159"/>
            <a:ext cx="2616101" cy="1344960"/>
          </a:xfrm>
          <a:prstGeom prst="roundRect">
            <a:avLst>
              <a:gd name="adj" fmla="val 12237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57200" y="196155"/>
            <a:ext cx="743388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912" dirty="0">
                <a:solidFill>
                  <a:srgbClr val="BBF7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5</a:t>
            </a:r>
            <a:endParaRPr lang="en-US" sz="912" dirty="0"/>
          </a:p>
        </p:txBody>
      </p:sp>
      <p:sp>
        <p:nvSpPr>
          <p:cNvPr id="10" name="Text 7"/>
          <p:cNvSpPr/>
          <p:nvPr/>
        </p:nvSpPr>
        <p:spPr>
          <a:xfrm>
            <a:off x="457200" y="468809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Optimización, depuración y patrones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57225" y="1735634"/>
            <a:ext cx="2260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57225" y="2116634"/>
            <a:ext cx="221605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Mover cálculos costosos fuera del bucle, evitar anidados innecesarios y usar comprensiones cuando ayuden a simplificar.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63826" y="1735634"/>
            <a:ext cx="22605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Depurar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463826" y="2116634"/>
            <a:ext cx="221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Imprimir variables clave, limitar iteraciones en pruebas y revisar siempre la condición de salida.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70575" y="1735634"/>
            <a:ext cx="2260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Patrones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270575" y="2116634"/>
            <a:ext cx="22160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Acumulación, filtrado y búsqueda son tres formas clásicas de pensar un problema con bucles.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4305" y="3754934"/>
            <a:ext cx="34975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40"/>
              </a:lnSpc>
              <a:buNone/>
            </a:pPr>
            <a:r>
              <a:rPr lang="en-US" sz="384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3840" dirty="0"/>
          </a:p>
        </p:txBody>
      </p:sp>
      <p:sp>
        <p:nvSpPr>
          <p:cNvPr id="18" name="Text 15"/>
          <p:cNvSpPr/>
          <p:nvPr/>
        </p:nvSpPr>
        <p:spPr>
          <a:xfrm>
            <a:off x="634305" y="4375993"/>
            <a:ext cx="230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patrones comunes con bucles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440906" y="3754934"/>
            <a:ext cx="34975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40"/>
              </a:lnSpc>
              <a:buNone/>
            </a:pPr>
            <a:r>
              <a:rPr lang="en-US" sz="384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3840" dirty="0"/>
          </a:p>
        </p:txBody>
      </p:sp>
      <p:sp>
        <p:nvSpPr>
          <p:cNvPr id="20" name="Text 17"/>
          <p:cNvSpPr/>
          <p:nvPr/>
        </p:nvSpPr>
        <p:spPr>
          <a:xfrm>
            <a:off x="3440906" y="4375993"/>
            <a:ext cx="22620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sentencias de control clave: break y continue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47656" y="3754934"/>
            <a:ext cx="34975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40"/>
              </a:lnSpc>
              <a:buNone/>
            </a:pPr>
            <a:r>
              <a:rPr lang="en-US" sz="384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3840" dirty="0"/>
          </a:p>
        </p:txBody>
      </p:sp>
      <p:sp>
        <p:nvSpPr>
          <p:cNvPr id="22" name="Text 19"/>
          <p:cNvSpPr/>
          <p:nvPr/>
        </p:nvSpPr>
        <p:spPr>
          <a:xfrm>
            <a:off x="6247656" y="4375993"/>
            <a:ext cx="2261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 de aprendizaje resumidos en la clase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3102"/>
            <a:ext cx="6858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69802"/>
            <a:ext cx="4000500" cy="2943225"/>
          </a:xfrm>
          <a:prstGeom prst="roundRect">
            <a:avLst>
              <a:gd name="adj" fmla="val 6835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86300" y="1269802"/>
            <a:ext cx="4000500" cy="2943225"/>
          </a:xfrm>
          <a:prstGeom prst="roundRect">
            <a:avLst>
              <a:gd name="adj" fmla="val 6835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" y="4403527"/>
            <a:ext cx="8229600" cy="857250"/>
          </a:xfrm>
          <a:prstGeom prst="roundRect">
            <a:avLst>
              <a:gd name="adj" fmla="val 23466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-69652"/>
            <a:ext cx="753103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912" dirty="0">
                <a:solidFill>
                  <a:srgbClr val="BBF7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6</a:t>
            </a:r>
            <a:endParaRPr lang="en-US" sz="912" dirty="0"/>
          </a:p>
        </p:txBody>
      </p:sp>
      <p:sp>
        <p:nvSpPr>
          <p:cNvPr id="7" name="Text 4"/>
          <p:cNvSpPr/>
          <p:nvPr/>
        </p:nvSpPr>
        <p:spPr>
          <a:xfrm>
            <a:off x="457200" y="203002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F8FAF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Ejercicios aplicados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95325" y="1507927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Inventario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5325" y="1927027"/>
            <a:ext cx="3524250" cy="197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 de diccionarios con nombre, stock y precio.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`for` para revisar productos y detectar stock bajo.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Comprensión para crear lista de reposición.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`while` para simular ingreso de productos hasta escribir 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24425" y="1507927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académico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924425" y="1927027"/>
            <a:ext cx="352425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`zip()` para unir nombres y notas.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`enumerate()` para ubicar la nota más baja.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Comprensión para aprobados y alumnos que deben rendir.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`break` para cortar si aparece una nota perfecta.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7225" y="4603552"/>
            <a:ext cx="7829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Sentido pedagógico: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ambos ejercicios obligan a elegir correctamente la estructura iterativa según el problema, y no solo a repetir sintaxis de memoria.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42257"/>
            <a:ext cx="8229600" cy="2409825"/>
          </a:xfrm>
          <a:prstGeom prst="roundRect">
            <a:avLst>
              <a:gd name="adj" fmla="val 8347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sx="100000" sy="100000" kx="0" ky="0" algn="bl" rotWithShape="0" blurRad="381000" dist="9525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4904" y="-294233"/>
            <a:ext cx="8394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0"/>
              </a:lnSpc>
              <a:buNone/>
            </a:pPr>
            <a:r>
              <a:rPr lang="en-US" sz="7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👨‍🏫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74904" y="1229767"/>
            <a:ext cx="8394192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60"/>
              </a:lnSpc>
              <a:buNone/>
            </a:pPr>
            <a:r>
              <a:rPr lang="en-US" sz="5040" dirty="0">
                <a:solidFill>
                  <a:srgbClr val="22C55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Qué debes dominar para el examen</a:t>
            </a:r>
            <a:endParaRPr lang="en-US" sz="5040" dirty="0"/>
          </a:p>
        </p:txBody>
      </p:sp>
      <p:sp>
        <p:nvSpPr>
          <p:cNvPr id="5" name="Text 3"/>
          <p:cNvSpPr/>
          <p:nvPr/>
        </p:nvSpPr>
        <p:spPr>
          <a:xfrm>
            <a:off x="733425" y="2618482"/>
            <a:ext cx="37242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9"/>
              </a:lnSpc>
              <a:buNone/>
            </a:pPr>
            <a:r>
              <a:rPr lang="en-US" sz="1224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Elegir entre `while` y `for` según la lógica del problema.</a:t>
            </a:r>
            <a:endParaRPr lang="en-US" sz="1224" dirty="0"/>
          </a:p>
        </p:txBody>
      </p:sp>
      <p:sp>
        <p:nvSpPr>
          <p:cNvPr id="6" name="Text 4"/>
          <p:cNvSpPr/>
          <p:nvPr/>
        </p:nvSpPr>
        <p:spPr>
          <a:xfrm>
            <a:off x="733425" y="3237607"/>
            <a:ext cx="37242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9"/>
              </a:lnSpc>
              <a:buNone/>
            </a:pPr>
            <a:r>
              <a:rPr lang="en-US" sz="1224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Usar `range()` para repeticiones controladas e índices.</a:t>
            </a:r>
            <a:endParaRPr lang="en-US" sz="1224" dirty="0"/>
          </a:p>
        </p:txBody>
      </p:sp>
      <p:sp>
        <p:nvSpPr>
          <p:cNvPr id="7" name="Text 5"/>
          <p:cNvSpPr/>
          <p:nvPr/>
        </p:nvSpPr>
        <p:spPr>
          <a:xfrm>
            <a:off x="733425" y="3856732"/>
            <a:ext cx="379876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9"/>
              </a:lnSpc>
              <a:buNone/>
            </a:pPr>
            <a:r>
              <a:rPr lang="en-US" sz="1224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Recorrer listas y diccionarios con claridad.</a:t>
            </a:r>
            <a:endParaRPr lang="en-US" sz="1224" dirty="0"/>
          </a:p>
        </p:txBody>
      </p:sp>
      <p:sp>
        <p:nvSpPr>
          <p:cNvPr id="8" name="Text 6"/>
          <p:cNvSpPr/>
          <p:nvPr/>
        </p:nvSpPr>
        <p:spPr>
          <a:xfrm>
            <a:off x="4686300" y="2618482"/>
            <a:ext cx="37242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9"/>
              </a:lnSpc>
              <a:buNone/>
            </a:pPr>
            <a:r>
              <a:rPr lang="en-US" sz="1224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Aplicar `break`, `continue`, `enumerate()` y `zip()` cuando corresponda.</a:t>
            </a:r>
            <a:endParaRPr lang="en-US" sz="1224" dirty="0"/>
          </a:p>
        </p:txBody>
      </p:sp>
      <p:sp>
        <p:nvSpPr>
          <p:cNvPr id="9" name="Text 7"/>
          <p:cNvSpPr/>
          <p:nvPr/>
        </p:nvSpPr>
        <p:spPr>
          <a:xfrm>
            <a:off x="4686300" y="3237607"/>
            <a:ext cx="37242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9"/>
              </a:lnSpc>
              <a:buNone/>
            </a:pPr>
            <a:r>
              <a:rPr lang="en-US" sz="1224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Construir comprensiones para filtrar y transformar datos.</a:t>
            </a:r>
            <a:endParaRPr lang="en-US" sz="1224" dirty="0"/>
          </a:p>
        </p:txBody>
      </p:sp>
      <p:sp>
        <p:nvSpPr>
          <p:cNvPr id="10" name="Text 8"/>
          <p:cNvSpPr/>
          <p:nvPr/>
        </p:nvSpPr>
        <p:spPr>
          <a:xfrm>
            <a:off x="4686300" y="3856732"/>
            <a:ext cx="37242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9"/>
              </a:lnSpc>
              <a:buNone/>
            </a:pPr>
            <a:r>
              <a:rPr lang="en-US" sz="1224" dirty="0">
                <a:solidFill>
                  <a:srgbClr val="D8E6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Pensar primero la lógica de repetición y luego escribir el código.</a:t>
            </a:r>
            <a:endParaRPr lang="en-US" sz="1224" dirty="0"/>
          </a:p>
        </p:txBody>
      </p:sp>
      <p:sp>
        <p:nvSpPr>
          <p:cNvPr id="11" name="Text 9"/>
          <p:cNvSpPr/>
          <p:nvPr/>
        </p:nvSpPr>
        <p:spPr>
          <a:xfrm>
            <a:off x="457200" y="498068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7B8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memorices solo la sintaxis · entiende qué se repite y por qué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2026-04-28T21:05:11Z</dcterms:created>
  <dcterms:modified xsi:type="dcterms:W3CDTF">2026-04-28T21:05:11Z</dcterms:modified>
</cp:coreProperties>
</file>